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45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425" y="1258788"/>
            <a:ext cx="81915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58638"/>
            <a:ext cx="808329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0"/>
              </a:lnSpc>
              <a:buNone/>
            </a:pPr>
            <a:r>
              <a:rPr lang="en-US" sz="84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🕊️</a:t>
            </a:r>
            <a:endParaRPr lang="en-US" sz="8400" dirty="0"/>
          </a:p>
        </p:txBody>
      </p:sp>
      <p:sp>
        <p:nvSpPr>
          <p:cNvPr id="4" name="Text 1"/>
          <p:cNvSpPr/>
          <p:nvPr/>
        </p:nvSpPr>
        <p:spPr>
          <a:xfrm>
            <a:off x="609600" y="1487388"/>
            <a:ext cx="792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6000" b="1" dirty="0">
                <a:solidFill>
                  <a:srgbClr val="A3472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Parsi Zoroastrian Navjote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530352" y="3925788"/>
            <a:ext cx="80832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56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Sacred initiation into the faith</a:t>
            </a:r>
            <a:endParaRPr lang="en-US" sz="1560" dirty="0"/>
          </a:p>
        </p:txBody>
      </p:sp>
      <p:sp>
        <p:nvSpPr>
          <p:cNvPr id="6" name="Text 3"/>
          <p:cNvSpPr/>
          <p:nvPr/>
        </p:nvSpPr>
        <p:spPr>
          <a:xfrm>
            <a:off x="914400" y="4527649"/>
            <a:ext cx="73152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94"/>
              </a:lnSpc>
              <a:buNone/>
            </a:pPr>
            <a:r>
              <a:rPr lang="en-US" sz="135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 animated cultural presentation on the meaning, symbolism, and ceremonial flow of the Navjote rite as practiced in many Parsi Zoroastrian families.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0" y="600075"/>
            <a:ext cx="3771900" cy="3943350"/>
          </a:xfrm>
          <a:prstGeom prst="roundRect">
            <a:avLst>
              <a:gd name="adj" fmla="val 58182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53025" y="3086100"/>
            <a:ext cx="1419225" cy="1066800"/>
          </a:xfrm>
          <a:prstGeom prst="roundRect">
            <a:avLst>
              <a:gd name="adj" fmla="val 137143"/>
            </a:avLst>
          </a:prstGeom>
          <a:solidFill>
            <a:srgbClr val="00000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24650" y="3086100"/>
            <a:ext cx="1419225" cy="1066800"/>
          </a:xfrm>
          <a:prstGeom prst="roundRect">
            <a:avLst>
              <a:gd name="adj" fmla="val 137143"/>
            </a:avLst>
          </a:prstGeom>
          <a:solidFill>
            <a:srgbClr val="00000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-307628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Meaning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-2828"/>
            <a:ext cx="37719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dirty="0">
                <a:solidFill>
                  <a:srgbClr val="2F24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the Navjote marks</a:t>
            </a:r>
            <a:endParaRPr lang="en-US" sz="3840" dirty="0"/>
          </a:p>
        </p:txBody>
      </p:sp>
      <p:sp>
        <p:nvSpPr>
          <p:cNvPr id="7" name="Text 5"/>
          <p:cNvSpPr/>
          <p:nvPr/>
        </p:nvSpPr>
        <p:spPr>
          <a:xfrm>
            <a:off x="609600" y="1650653"/>
            <a:ext cx="3771900" cy="380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94"/>
              </a:lnSpc>
              <a:buSzPct val="100000"/>
              <a:buChar char="•"/>
            </a:pPr>
            <a:r>
              <a:rPr lang="en-US" sz="135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Navjote is the Zoroastrian initiation ceremony through which a child formally enters the faith.</a:t>
            </a:r>
            <a:endParaRPr lang="en-US" sz="1350" dirty="0"/>
          </a:p>
          <a:p>
            <a:pPr marL="342900" indent="-342900">
              <a:lnSpc>
                <a:spcPts val="2194"/>
              </a:lnSpc>
              <a:buSzPct val="100000"/>
              <a:buChar char="•"/>
            </a:pPr>
            <a:r>
              <a:rPr lang="en-US" sz="135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child receives the sacred sudreh and kusti and performs the kusti ritual for the first time.</a:t>
            </a:r>
            <a:endParaRPr lang="en-US" sz="1350" dirty="0"/>
          </a:p>
          <a:p>
            <a:pPr marL="342900" indent="-342900">
              <a:lnSpc>
                <a:spcPts val="2194"/>
              </a:lnSpc>
              <a:buSzPct val="100000"/>
              <a:buChar char="•"/>
            </a:pPr>
            <a:r>
              <a:rPr lang="en-US" sz="135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Many sources describe it as one of the most important rites of passage for Parsi Zoroastrian families.</a:t>
            </a:r>
            <a:endParaRPr lang="en-US" sz="1350" dirty="0"/>
          </a:p>
          <a:p>
            <a:pPr marL="342900" indent="-342900">
              <a:lnSpc>
                <a:spcPts val="2194"/>
              </a:lnSpc>
              <a:buSzPct val="100000"/>
              <a:buChar char="•"/>
            </a:pPr>
            <a:r>
              <a:rPr lang="en-US" sz="135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 is commonly performed in childhood, often around ages seven to twelve and before puberty.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94281" y="3238500"/>
            <a:ext cx="11367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A347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Sudreh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05425" y="3619500"/>
            <a:ext cx="1114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Sacred undershirt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65906" y="3238500"/>
            <a:ext cx="11367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A347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Kusti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65906" y="3619500"/>
            <a:ext cx="1136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Sacred thread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85925"/>
            <a:ext cx="1809750" cy="3143250"/>
          </a:xfrm>
          <a:prstGeom prst="roundRect">
            <a:avLst>
              <a:gd name="adj" fmla="val 12126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47950" y="1685925"/>
            <a:ext cx="1809750" cy="3143250"/>
          </a:xfrm>
          <a:prstGeom prst="roundRect">
            <a:avLst>
              <a:gd name="adj" fmla="val 12126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1685925"/>
            <a:ext cx="1809750" cy="3143250"/>
          </a:xfrm>
          <a:prstGeom prst="roundRect">
            <a:avLst>
              <a:gd name="adj" fmla="val 12126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24650" y="1685925"/>
            <a:ext cx="1809750" cy="3143250"/>
          </a:xfrm>
          <a:prstGeom prst="roundRect">
            <a:avLst>
              <a:gd name="adj" fmla="val 12126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31432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Symbolism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61912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dirty="0">
                <a:solidFill>
                  <a:srgbClr val="2F24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pillars of the ceremony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34390" y="1924050"/>
            <a:ext cx="1360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👕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34390" y="2419350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Sudreh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7725" y="2762250"/>
            <a:ext cx="13335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white garment symbolizes purity and a life oriented toward good thoughts, words, and deeds.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72740" y="1924050"/>
            <a:ext cx="1360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🧵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872740" y="2419350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Kusti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6075" y="2762250"/>
            <a:ext cx="1333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sacred cord is tied with prayer and becomes part of daily devotional practice.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1090" y="1924050"/>
            <a:ext cx="1360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🙏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911090" y="2419350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24425" y="2762250"/>
            <a:ext cx="133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child publicly affirms faith and recites or learns key prayers during the rite.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1924050"/>
            <a:ext cx="1360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👨‍👩‍👧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949440" y="2419350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62775" y="2762250"/>
            <a:ext cx="1333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Family and congregation witness the ceremony, turning it into a spiritual and social milestone.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1781175"/>
            <a:ext cx="3810000" cy="8705850"/>
          </a:xfrm>
          <a:prstGeom prst="roundRect">
            <a:avLst>
              <a:gd name="adj" fmla="val 57600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-1695450"/>
            <a:ext cx="28575" cy="853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4925" y="-1409700"/>
            <a:ext cx="142875" cy="142875"/>
          </a:xfrm>
          <a:prstGeom prst="roundRect">
            <a:avLst>
              <a:gd name="adj" fmla="val 3200000"/>
            </a:avLst>
          </a:prstGeom>
          <a:solidFill>
            <a:srgbClr val="A3472F"/>
          </a:solidFill>
          <a:ln/>
          <a:effectLst>
            <a:outerShdw blurRad="101600" dist="50800" dir="16200000" algn="bl" rotWithShape="0">
              <a:srgbClr val="A3472F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304925" y="533400"/>
            <a:ext cx="142875" cy="142875"/>
          </a:xfrm>
          <a:prstGeom prst="roundRect">
            <a:avLst>
              <a:gd name="adj" fmla="val 3200000"/>
            </a:avLst>
          </a:prstGeom>
          <a:solidFill>
            <a:srgbClr val="A3472F"/>
          </a:solidFill>
          <a:ln/>
          <a:effectLst>
            <a:outerShdw blurRad="101600" dist="50800" dir="16200000" algn="bl" rotWithShape="0">
              <a:srgbClr val="A3472F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04925" y="2247900"/>
            <a:ext cx="142875" cy="142875"/>
          </a:xfrm>
          <a:prstGeom prst="roundRect">
            <a:avLst>
              <a:gd name="adj" fmla="val 3200000"/>
            </a:avLst>
          </a:prstGeom>
          <a:solidFill>
            <a:srgbClr val="A3472F"/>
          </a:solidFill>
          <a:ln/>
          <a:effectLst>
            <a:outerShdw blurRad="101600" dist="50800" dir="16200000" algn="bl" rotWithShape="0">
              <a:srgbClr val="A3472F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304925" y="3962400"/>
            <a:ext cx="142875" cy="142875"/>
          </a:xfrm>
          <a:prstGeom prst="roundRect">
            <a:avLst>
              <a:gd name="adj" fmla="val 3200000"/>
            </a:avLst>
          </a:prstGeom>
          <a:solidFill>
            <a:srgbClr val="A3472F"/>
          </a:solidFill>
          <a:ln/>
          <a:effectLst>
            <a:outerShdw blurRad="101600" dist="50800" dir="16200000" algn="bl" rotWithShape="0">
              <a:srgbClr val="A3472F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04925" y="5181600"/>
            <a:ext cx="142875" cy="142875"/>
          </a:xfrm>
          <a:prstGeom prst="roundRect">
            <a:avLst>
              <a:gd name="adj" fmla="val 3200000"/>
            </a:avLst>
          </a:prstGeom>
          <a:solidFill>
            <a:srgbClr val="A3472F"/>
          </a:solidFill>
          <a:ln/>
          <a:effectLst>
            <a:outerShdw blurRad="101600" dist="50800" dir="16200000" algn="bl" rotWithShape="0">
              <a:srgbClr val="A3472F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24400" y="2934891"/>
            <a:ext cx="3810000" cy="2762250"/>
          </a:xfrm>
          <a:prstGeom prst="roundRect">
            <a:avLst>
              <a:gd name="adj" fmla="val 79448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962525" y="3706416"/>
            <a:ext cx="3333750" cy="152400"/>
          </a:xfrm>
          <a:prstGeom prst="roundRect">
            <a:avLst>
              <a:gd name="adj" fmla="val 59940000"/>
            </a:avLst>
          </a:prstGeom>
          <a:solidFill>
            <a:srgbClr val="A3472F">
              <a:alpha val="12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62525" y="4239816"/>
            <a:ext cx="3333750" cy="152400"/>
          </a:xfrm>
          <a:prstGeom prst="roundRect">
            <a:avLst>
              <a:gd name="adj" fmla="val 59940000"/>
            </a:avLst>
          </a:prstGeom>
          <a:solidFill>
            <a:srgbClr val="A3472F">
              <a:alpha val="12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962525" y="4773216"/>
            <a:ext cx="3333750" cy="152400"/>
          </a:xfrm>
          <a:prstGeom prst="roundRect">
            <a:avLst>
              <a:gd name="adj" fmla="val 59940000"/>
            </a:avLst>
          </a:prstGeom>
          <a:solidFill>
            <a:srgbClr val="A3472F">
              <a:alpha val="12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62525" y="5306616"/>
            <a:ext cx="3333750" cy="152400"/>
          </a:xfrm>
          <a:prstGeom prst="roundRect">
            <a:avLst>
              <a:gd name="adj" fmla="val 59940000"/>
            </a:avLst>
          </a:prstGeom>
          <a:solidFill>
            <a:srgbClr val="A3472F">
              <a:alpha val="12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00200" y="-1466850"/>
            <a:ext cx="25050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Preparation and ritual bath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00200" y="-895350"/>
            <a:ext cx="25050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Traditional descriptions note purification before the public ceremony, often including a ritual bath and prayer preparation.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00200" y="476250"/>
            <a:ext cx="25050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Arrival and family blessing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00200" y="1047750"/>
            <a:ext cx="25050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child is brought forward, and senior family members may perform auspicious gestures before the rite begins.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00200" y="2190750"/>
            <a:ext cx="25050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Recitation and profession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00200" y="2762250"/>
            <a:ext cx="25050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child recites prayers such as Patet Pashemani and Din no Kalmo, expressing repentance and commitment.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00200" y="3905250"/>
            <a:ext cx="25551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Investiture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00200" y="4210050"/>
            <a:ext cx="2505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priest invests the child with the sudreh and guides the first tying of the kusti.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00200" y="5124450"/>
            <a:ext cx="25050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Blessing and celebration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600200" y="5695950"/>
            <a:ext cx="25050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ceremony concludes with blessings, auspicious tokens, and often a visit to the sacred fire followed by celebration.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24400" y="-553641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Ceremonial flow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24400" y="-248841"/>
            <a:ext cx="381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2F24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the rite unfolds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4724400" y="1313259"/>
            <a:ext cx="3810000" cy="1393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Across community descriptions, Navjote follows a structured sequence that joins purification, declaration of faith, investiture, and blessing into one sacred public transition.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962525" y="3173016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Ceremony arc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962525" y="3477816"/>
            <a:ext cx="7858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999809" y="3477816"/>
            <a:ext cx="302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25%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962525" y="4011216"/>
            <a:ext cx="4390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Prayer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999809" y="4011216"/>
            <a:ext cx="302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962525" y="4544616"/>
            <a:ext cx="7286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Investiture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999809" y="4544616"/>
            <a:ext cx="302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25%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962525" y="5078016"/>
            <a:ext cx="5669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Blessing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999809" y="5078016"/>
            <a:ext cx="302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20%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733550"/>
            <a:ext cx="3048000" cy="304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0" y="809625"/>
            <a:ext cx="3771900" cy="1504950"/>
          </a:xfrm>
          <a:prstGeom prst="roundRect">
            <a:avLst>
              <a:gd name="adj" fmla="val 14582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0" y="2505075"/>
            <a:ext cx="3771900" cy="1504950"/>
          </a:xfrm>
          <a:prstGeom prst="roundRect">
            <a:avLst>
              <a:gd name="adj" fmla="val 14582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0" y="4200525"/>
            <a:ext cx="3771900" cy="1504950"/>
          </a:xfrm>
          <a:prstGeom prst="roundRect">
            <a:avLst>
              <a:gd name="adj" fmla="val 14582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0352" y="-56197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Ritual design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0352" y="-25717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dirty="0">
                <a:solidFill>
                  <a:srgbClr val="2F24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Circle of sacred meaning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71550" y="289173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Faith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Commitment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71675" y="1695450"/>
            <a:ext cx="10477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Purity</a:t>
            </a:r>
            <a:endParaRPr lang="en-US" sz="936" dirty="0"/>
          </a:p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ritual readiness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3162300" y="2705100"/>
            <a:ext cx="10477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Prayer</a:t>
            </a:r>
            <a:endParaRPr lang="en-US" sz="936" dirty="0"/>
          </a:p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spoken vows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1971675" y="4463058"/>
            <a:ext cx="10477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Duty</a:t>
            </a:r>
            <a:endParaRPr lang="en-US" sz="936" dirty="0"/>
          </a:p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practice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800100" y="2705100"/>
            <a:ext cx="1047750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Belonging</a:t>
            </a:r>
            <a:endParaRPr lang="en-US" sz="936" dirty="0"/>
          </a:p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community witness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5000625" y="1047750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Purification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00625" y="1390650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Sources describe pre-ceremony cleansing as the spiritual threshold before public initiation.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00625" y="2743200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Profession of faith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00625" y="3086100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child affirms loyalty to Ahura Mazda, Zarathushtra, and the Zoroastrian way of life.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00625" y="4438650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Lifelong discipline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000625" y="4781550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Receiving sudreh and kusti marks the beginning of daily religious observance, not a one-day event.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9" y="1423393"/>
            <a:ext cx="2489150" cy="1892769"/>
          </a:xfrm>
          <a:prstGeom prst="roundRect">
            <a:avLst>
              <a:gd name="adj" fmla="val 8816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448991"/>
            <a:ext cx="2489150" cy="1892769"/>
          </a:xfrm>
          <a:prstGeom prst="roundRect">
            <a:avLst>
              <a:gd name="adj" fmla="val 8816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448991"/>
            <a:ext cx="2489299" cy="1841574"/>
          </a:xfrm>
          <a:prstGeom prst="roundRect">
            <a:avLst>
              <a:gd name="adj" fmla="val 88160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892" y="3415580"/>
            <a:ext cx="7924800" cy="1388269"/>
          </a:xfrm>
          <a:prstGeom prst="roundRect">
            <a:avLst>
              <a:gd name="adj" fmla="val 158079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-532209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prayers and acts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-227409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2F24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Core components highlighted in tradition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99286" y="1519821"/>
            <a:ext cx="19754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📿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63645" y="1766565"/>
            <a:ext cx="1975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Patet Pashemani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3645" y="2109465"/>
            <a:ext cx="193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prayer of repentance that frames the ceremony as a new beginning in moral and spiritual life.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0305" y="1486770"/>
            <a:ext cx="19754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🗣️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681395" y="1766565"/>
            <a:ext cx="1975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Din no Kalmo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1395" y="2109465"/>
            <a:ext cx="193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formal declaration in which the child expresses the creed and vows fidelity to the religion.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99146" y="1525191"/>
            <a:ext cx="19755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🤲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399146" y="1766565"/>
            <a:ext cx="19368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Tandarosti blessing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99146" y="2147565"/>
            <a:ext cx="19368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concluding blessing asks for health and well-being as the child enters a new stage of life.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9286" y="3654895"/>
            <a:ext cx="73723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Community accounts also describe auspicious gestures such as a red tilak, grains of rice, garlands, coconut, betel leaf, and celebratory offerings after the investiture, tying the spiritual moment to family joy and blessing.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17194"/>
            <a:ext cx="2489150" cy="1047750"/>
          </a:xfrm>
          <a:prstGeom prst="roundRect">
            <a:avLst>
              <a:gd name="adj" fmla="val 20945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4217194"/>
            <a:ext cx="2489150" cy="1047750"/>
          </a:xfrm>
          <a:prstGeom prst="roundRect">
            <a:avLst>
              <a:gd name="adj" fmla="val 20945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4217194"/>
            <a:ext cx="2489299" cy="1047750"/>
          </a:xfrm>
          <a:prstGeom prst="roundRect">
            <a:avLst>
              <a:gd name="adj" fmla="val 20945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2F2418"/>
            </a:solidFill>
          </a:ln>
          <a:effectLst>
            <a:outerShdw blurRad="381000" dist="152400" dir="5400000" algn="bl" rotWithShape="0">
              <a:srgbClr val="674526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-121444"/>
            <a:ext cx="8083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7200" dirty="0">
                <a:solidFill>
                  <a:srgbClr val="2F241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🔥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09600" y="926306"/>
            <a:ext cx="792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dirty="0">
                <a:solidFill>
                  <a:srgbClr val="A3472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rite of identity, discipline, and blessing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09600" y="2907506"/>
            <a:ext cx="792480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8"/>
              </a:lnSpc>
              <a:buNone/>
            </a:pPr>
            <a:r>
              <a:rPr lang="en-US" sz="1500" dirty="0">
                <a:solidFill>
                  <a:srgbClr val="5B4A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Navjote brings together purification, sacred clothing, prayer, and family witness to mark the child’s formal commitment to the Zoroastrian path and the daily practice that follows.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7596" y="4455319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A347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7–12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27596" y="4836319"/>
            <a:ext cx="2053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Common age range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45346" y="4455319"/>
            <a:ext cx="20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A347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545346" y="4836319"/>
            <a:ext cx="2053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Sacred vestments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3095" y="4455319"/>
            <a:ext cx="2053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A347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263095" y="4836319"/>
            <a:ext cx="20533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826F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Lifelong covenant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588</Words>
  <Application>Microsoft Office PowerPoint</Application>
  <PresentationFormat>On-screen Show 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-apple-system</vt:lpstr>
      <vt:lpstr>Arial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Danesh N Rustomfram</cp:lastModifiedBy>
  <cp:revision>3</cp:revision>
  <dcterms:created xsi:type="dcterms:W3CDTF">2026-07-26T19:46:45Z</dcterms:created>
  <dcterms:modified xsi:type="dcterms:W3CDTF">2026-08-07T12:32:53Z</dcterms:modified>
</cp:coreProperties>
</file>